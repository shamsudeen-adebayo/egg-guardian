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THESIS DEFENSE PRESENTATION</a:t>
            </a:r>
          </a:p>
          <a:p>
            <a:pPr>
              <a:spcAft>
                <a:spcPts val="1400"/>
              </a:spcAft>
              <a:defRPr sz="3400" b="1">
                <a:solidFill>
                  <a:srgbClr val="FFFFFF"/>
                </a:solidFill>
                <a:latin typeface="Segoe UI"/>
              </a:defRPr>
            </a:pPr>
            <a:r>
              <a:t>The Development of a Mobile Application for Monitoring Poultry Egg Temperature and Security Updates</a:t>
            </a:r>
          </a:p>
          <a:p>
            <a:pPr>
              <a:spcAft>
                <a:spcPts val="4500"/>
              </a:spcAft>
              <a:defRPr sz="1800">
                <a:solidFill>
                  <a:srgbClr val="9CA3AF"/>
                </a:solidFill>
                <a:latin typeface="Segoe UI"/>
              </a:defRPr>
            </a:pPr>
            <a:r>
              <a:t>A Secure, Asynchronous, and Resilient Agricultural Cyber-Physical System</a:t>
            </a:r>
          </a:p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Presenter: Shamsudeen Anuoluwapo Adebayo</a:t>
            </a:r>
            <a:br/>
            <a:r>
              <a:t>Department of Computer Science  |  Hatchery Telemetry &amp; Security Subsystem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1 of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01 / INTRODUCTION</a:t>
            </a:r>
          </a:p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Poultry Production &amp; Biological Incubation Constraints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13716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Biological Constraints &amp; Boundaries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Poultry production stands as a cornerstone of global agriculture, providing animal protein to feed the global population (Okubanjo, 2025).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Chicken eggs have a narrow optimal incubation window strictly defined between 37.0°C and 39.0°C (FAO, 2024).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Sustained hypothermia (&lt;35.0°C) slows cellular division, leading to congenital deformities or embryo death (Abraham &amp; Stephen, 2025).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Hyperthermia (&gt;39.5°C) accelerates metabolic rates, denaturing proteins and killing the embryo in 20-30 minutes (Abdullah &amp; Hamdan, 2023).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mperature_zones_diagram_17837892424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600200"/>
            <a:ext cx="493776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2 of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02 / INTRODUCTION</a:t>
            </a:r>
          </a:p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The Paradigm Shift to Agriculture 4.0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13716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Sensing and Automation Loops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Agriculture 4.0 leverages Cyber-Physical Systems (CPS), IoT, and cloud computing into daily farm operations (Gatkal et al., 2025).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Physical environments are continuously monitored by networks of connected sensors, creating a feedback loop (Protopappas et al., 2025).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Shifts management from manual scheduled checks to precision automation.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Allows operators to detect micro-climate deviations immediately, optimizing environmental stability (Okello et al., 2025).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yber_physical_loop_17837931225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600200"/>
            <a:ext cx="493776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3 of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03 / INTRODUCTION</a:t>
            </a:r>
          </a:p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The Role of IoT &amp; Mobile HMI in Farm Automation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13716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IoT Infrastructure (Edge Nodes)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IoT provides physical infrastructure for environmental monitoring.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ESP32 microcontrollers interface with DS18B20 digital probes (Trust, 2026).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Edge nodes convert physical parameters into JSON payloads, transmitting them over MQTT (Abdullah &amp; Hamdan, 2023).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Mobile Interface (WebSocket &amp; FCM)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Mobile applications serve as the primary human-machine interface (HMI).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Persistent WebSockets allow mobile apps to update visual charts in real time (Nalendra &amp; Waspada, 2025).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Enables farm operators to receive push alerts if parameters drift (Dr. Brindha S et al., 2025).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4 of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04 / RESEARCH GAPS</a:t>
            </a:r>
          </a:p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The Identification of Gaps in Existing Literature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13716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Security &amp; Buffering Gaps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Plaintext Transmission: Prior setups (e.g. Blynk) transmit telemetry data in plaintext, exposing systems to spoofing.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No Authentication: Lack of session controls allows unauthorized users to modify parameters.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Firmware Neglect: Microcontrollers run outdated, insecure firmware without update warning check loops (Brindha et al., 2025).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No Caching: Cloud platforms lack edge caching, causing complete data loss during Wi-Fi drops (Pacheco et al., 2023).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curity_vulnerabilities_17837931371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600200"/>
            <a:ext cx="493776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5 of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05 / GOALS &amp; OBJECTIVES</a:t>
            </a:r>
          </a:p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Project Aim &amp; Core Targets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13716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Research Aim &amp; Purpose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To develop a secure, real-time IoT-based mobile application framework (Egg Guardian) for monitoring poultry egg incubator temperatures.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To implement a tracking mechanism that pushes automated firmware version warning notifications to operators when a mismatch is detected.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Specific Objectives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Objective 1: Fabricate an ESP32 edge node with DS18B20 digital probes and offline caching queues.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Objective 2: Build a FastAPI cloud API backend and cross-platform Flutter operator mobile application.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Objective 3: Construct a security subsystem utilizing Bcrypt, JWT tokens, MQTTS over TLS 1.3, and version warnings.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Objective 4: Evaluate system accuracy (MAE), data recovery rates, and end-to-end alert propagation latency.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6 of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06 / IMPLEMENTATION MODEL</a:t>
            </a:r>
          </a:p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Iterative Software Development Life Cycle (SDLC)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13716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Phases 1 - 3: Analysis to Coding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Requirement Analysis: Mapping hatchery requirements, biological parameters, and security standards.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System Design: Drafting entity-relationship schemas, UML data flow sequences, and hardware schematics.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Development: Programming ESP32 firmware in C++, FastAPI routes in Python, and mobile UI in Dart/Flutter.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Phases 4 - 6: QA to Maintenance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Testing: Running isolated unit evaluations on ring buffers, broker routes, and FCM alerts.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Deployment: Hosting backend APIs in the cloud, flashing microcontroller nodes, and emulating mobile app runs.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Maintenance: Adjusting threshold hysteresis values and publishing firmware version update notifications.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7 of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07 / SYSTEM DESIGN</a:t>
            </a:r>
          </a:p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Cyber-Physical Topology &amp; Data Flows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13716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Architectural Layers &amp; Tiers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Physical Layer: DS18B20 digital probes connect to the ESP32 node via a 1-Wire bus with pull-up resistors.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Transport Layer: Node publishes serialized JSON telemetry over encrypted MQTTS (TLS 1.3 over port 8883) to the broker.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Asynchronous Cloud: FastAPI processes telemetry, coordinates database writes, and streams data over WebSockets.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HMI Layer: Flutter operator mobile app listens to WebSockets for real-time charts and registers FCM tokens.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ystem_architecture_diagram_17837892577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600200"/>
            <a:ext cx="493776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8 of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08 / RELATIONAL STORAGE</a:t>
            </a:r>
          </a:p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Database Design &amp; Entity Schemas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13716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Database Constraints &amp; Tables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Users Table: Stores user identifiers, unique emails, Bcrypt-hashed credentials, and user authorization roles.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Temperature Records Table: Logs hardware sensor addresses (DS18B20 ROM string), decimal readings, and timestamps.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Security Alerts Table: Logs event types (e.g., Firmware Mismatch), notification messages, and timestamps.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Notifications Table: Manages user mappings, alert titles, body content, and delivery statuses.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tabase_schema_17838594073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600200"/>
            <a:ext cx="493776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9 of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09 / HMI PLATFORMS</a:t>
            </a:r>
          </a:p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Operator Android Client &amp; Web Admin Console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13716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Flutter Mobile Handset HMI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Authentication: Secure user login screen utilizing signed JWT tokens.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Visual Dashboard: Real-time radial temperature gauges and 24-hour historical trend charts.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Alert Logs: Scrollable logs displaying warning notifications and device update statuses.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Web Desktop Administration Console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Telemetry Grid: Administrator tables showing live connection states and statuses across all nodes.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Historical Audits: Filterable views for inspecting long-term temperature compliance logs.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Control Console: Secure settings for adjusting temperature threshold limits.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10 of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10 / CYBER SECURITY</a:t>
            </a:r>
          </a:p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Security Threat Mitigation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13716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Transport &amp; Account Security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Eavesdropping: Plaintext telemetry intercepted over public networks. Mitigated by MQTTS/TLS over port 8883.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Credentials Theft: Stolen passwords compromising user profiles. Mitigated by Bcrypt hashing.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Session Hijacking: Unauthorized API actions. Mitigated by signed JWT token headers.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Device Integrity &amp; Data Audits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Vulnerable Code Execution: Exploits on outdated edge devices. Mitigated by version checks and warning banners.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Telemetry Spoofing: Fabricated optimal values masking chamber failures. Mitigated by secure TLS handshakes.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11 of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11 / EMPIRICAL RESULTS (PART A)</a:t>
            </a:r>
          </a:p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Thermal Accuracy &amp; Caching Resilience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13716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DS18B20 Calibration &amp; MAE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Sensor Precision: Calibrated digital DS18B20 probe against a mercury reference thermometer inside an incubation chamber.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Mean Absolute Error (MAE): Measured at 0.24°C, well within the biological limit of ± 0.5°C.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Digital 1-Wire signal remains resilient against long cable attenuation and analog noise.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Outage Buffering &amp; Data Recovery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Edge Caching: Tested node buffer during simulated Wi-Fi outages.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Outage Recovery Rate: Achieved 100% data recovery for drops up to 100 seconds.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Extended Outages: Local queue successfully overwrote oldest records first, preserving the 20 most recent readings.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12 of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12 / EMPIRICAL RESULTS (PART B)</a:t>
            </a:r>
          </a:p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Communication Latency &amp; Usability Scores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13716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Alert &amp; UI Refresh Latency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WebSocket Delay: Real-time telemetry refreshes mobile charts in 142ms.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FCM Notification Latency: Pushed alert payloads arrive on mobile handset in 1.14s over Wi-Fi, and 1.41s over 4G.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Fast response times allow operators to intervene quickly during heating failures.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System Usability Scale (SUS)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User Acceptance Testing: Field tested system usability with 10 poultry operators.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SUS Questionnaire: Evaluated interfaces across 10 statements (likert-scale).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Average SUS Score: Achieved 77.5/100, indicating 'excellent' usability.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13 of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13 / SUBSYSTEM VERIFICATION</a:t>
            </a:r>
          </a:p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Edge Node Firmware lifecycle Tracking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13716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Version Mismatch Alerts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Firmware check logic: Backend compares edge node firmware version strings against database targets.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Execution speed: Handshake version checks complete in 120ms.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UI Warning Banner: Mismatches render a warning banner in the mobile app and push an FCM notification.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Device Integrity Benefits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Helps operators identify and update outdated edge nodes.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Provides version warning checks without complex gatekeeper frameworks.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Ensures edge nodes run secure, authorized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14 of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14 / SUMMARY &amp; FUTURE SCOPE</a:t>
            </a:r>
          </a:p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Research Contributions &amp; Future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13716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Contributions &amp; Future Scope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Edge Resilience: Local ring buffers maintain data completeness during Wi-Fi drops without expensive gateway hardware.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Lifecycle Integration: Integrates security update alerts directly into smart farming telemetry.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LoRaWAN Integration: Replacing Wi-Fi with LoRaWAN to allow long-distance transmission (up to 15 km).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Predictive Analytics: Deploying server-side LSTM models to forecast heating/cooling failures.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uture_research_roadmap_17838966242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600200"/>
            <a:ext cx="493776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15 of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