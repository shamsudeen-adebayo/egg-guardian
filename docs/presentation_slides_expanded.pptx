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THESIS DEFENSE PRESENTATION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The Development of a Mobile Application for Monitoring Poultry Egg Temperature and Security Updates</a:t>
            </a:r>
          </a:p>
          <a:p>
            <a:pPr>
              <a:spcAft>
                <a:spcPts val="4500"/>
              </a:spcAft>
              <a:defRPr sz="1800">
                <a:solidFill>
                  <a:srgbClr val="9CA3AF"/>
                </a:solidFill>
                <a:latin typeface="Segoe UI"/>
              </a:defRPr>
            </a:pPr>
            <a:r>
              <a:t>A Secure, Asynchronous, and Resilient Agricultural Cyber-Physical System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Presenter: Shamsudeen Anuoluwapo Adebayo</a:t>
            </a:r>
            <a:br/>
            <a:r>
              <a:t>Department of Computer Science  |  Hatchery Telemetry &amp; Security 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01 / CONTEXT &amp; PROBLEM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Embryonic Requirements &amp; Existing Vulnerabilities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Biological Incubation Needs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Optimal egg storage temperature is strictly defined between 37.0°C and 39.0°C (FAO, 2024).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Temperatures below 35.0°C halt development, leading to structural abnormalities.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Hyperthermia above 39.5°C denatures embryo proteins within 20-30 minutes, causing complete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Existing Architectural Flaws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Unbuffered nodes lose data during Wi-Fi drops, common in concrete and metallic hatchery barns.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Lack of transit encryption allows attackers to eavesdrop on and spoof sensor readings.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Deployments ignore microcontroller firmware version changes, leaving systems exposed to security exploits.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02 / STUDY GOALS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Research Aim &amp; Specific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Research Aim &amp; Purpose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To develop a secure, real-time IoT-based mobile application framework (Egg Guardian) for monitoring poultry egg incubator temperatures.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To implement a tracking mechanism that pushes automated firmware version warning notifications to operators when a mismatch is 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Specific Objectives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Objective 1: Fabricate an ESP32 hardware edge node with DS18B20 digital probes and offline caching queues.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Objective 2: Build a FastAPI cloud API backend and cross-platform Flutter operator mobile application.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Objective 3: Construct a security subsystem utilizing Bcrypt, JWT tokens, MQTTS over TLS 1.3, and version warnings.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Objective 4: Evaluate system accuracy (MAE), data recovery rates, and end-to-end alert propagation latency.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03 / IMPLEMENTATION MODEL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Iterative Software Development Life Cycle (SDLC)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Phases 1 - 3: Analysis to Coding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Requirement Analysis: Mapping hatchery requirements, biological parameters, and security standards.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System Design: Drafting entity-relationship schemas, UML data flow sequences, and hardware schematics.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Development: Programming ESP32 firmware in C++, FastAPI routes in Python, and mobile UI in Dart/Flutter.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Phases 4 - 6: QA to Maintenance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Testing: Running isolated unit evaluations on ring buffers, broker routes, and FCM alerts.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Deployment: Hosting backend APIs in the cloud, flashing microcontroller nodes, and emulating mobile app runs.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Maintenance: Adjusting threshold hysteresis values and publishing firmware version update notifications.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04 / SYSTEM DESIGN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Cyber-Physical Topology &amp; Data 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Physical, Transport, &amp; Edge Caching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Physical Layer: DS18B20 digital probes connect to the ESP32 node via a 1-Wire bus with pull-up resistors.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Transport Layer: Node publishes serialized JSON telemetry over encrypted MQTTS (TLS 1.3 over port 8883) to the broker.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Edge Queue: Rings buffers store data during connection drops to prevent data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Cloud API, Storage, &amp; Mobile HMI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Asynchronous Cloud: FastAPI processes telemetry, coordinates database writes, and streams data over WebSockets.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HMI Layer: Operator mobile app listens to WebSockets for real-time charts and registers FCM tokens for push alerts.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Relay Control: Local edge node triggers backup cooling/heating actuators if thresholds are crossed.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05 / RELATIONAL STORAGE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Database Design &amp; Entity Schemas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Identity &amp; Telemetry Logging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Users Table: Stores user identifiers, unique emails, Bcrypt-hashed credentials, and user authorization roles.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Temperature Records Table: Logs hardware sensor addresses (DS18B20 ROM string), decimal readings, and timestamps.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Ensures data integrity with strict primary and foreign key constraints in PostgreSQL.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Security Warning &amp; Message Logs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Security Alerts Table: Logs event types (e.g., Firmware Mismatch), notification messages, and timestamps.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Notifications Table: Manages user mappings, alert titles, body content, and delivery statuses.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Supports high-frequency telemetry logging and audits.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06 / HMI PLATFORMS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Operator Android Client &amp; Web Admin Console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Flutter Mobile Handset HMI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Authentication: Secure user login screen utilizing signed JWT tokens.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Visual Dashboard: Real-time radial temperature gauges and 24-hour historical trend charts.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Alert Logs: Scrollable logs displaying warning notifications and device update statuses.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Web Desktop Administration Console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Telemetry Grid: Administrator tables showing live connection states and statuses across all nodes.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Historical Audits: Filterable views for inspecting long-term temperature compliance logs.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Control Console: Secure settings for adjusting temperature threshold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07 / CYBER SECURITY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Security Threat Mitigation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Transport &amp; Account Security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Eavesdropping: Plaintext telemetry intercepted over public networks. Mitigated by MQTTS/TLS over port 8883.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Credentials Theft: Stolen passwords compromising user profiles. Mitigated by Bcrypt hashing.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Session Hijacking: Unauthorized API actions. Mitigated by signed JWT token headers.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Device Integrity &amp; Data Audits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Vulnerable Code Execution: Exploits on outdated edge devices. Mitigated by version checks and warning banners.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Telemetry Spoofing: Fabricated optimal values masking chamber failures. Mitigated by secure TLS handshakes.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08 / EMPIRICAL RESULTS (PART A)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Thermal Accuracy &amp; Caching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DS18B20 Calibration &amp; MAE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Sensor Precision: Calibrated digital DS18B20 probe against a mercury reference thermometer inside an incubation chamber.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Mean Absolute Error (MAE): Measured at 0.24°C, well within the biological limit of ± 0.5°C.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Digital 1-Wire signal remains resilient against long cable attenuation and analog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Outage Buffering &amp; Data Recovery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Edge Caching: Tested node buffer during simulated Wi-Fi outages.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Outage Recovery Rate: Achieved 100% data recovery for drops up to 100 seconds.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Extended Outages: Local queue successfully overwrote oldest records first, preserving the 20 most recent readings.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09 / EMPIRICAL RESULTS (PART B)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Communication Latency &amp; Usability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Alert &amp; UI Refresh Latency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WebSocket Delay: Real-time telemetry refreshes mobile charts in 142ms.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FCM Notification Latency: Pushed alert payloads arrive on mobile handset in 1.14s over Wi-Fi, and 1.41s over 4G.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Fast response times allow operators to intervene quickly during heating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System Usability Scale (SUS)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User Acceptance Testing: Field tested system usability with 10 poultry operators.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SUS Questionnaire: Evaluated interfaces across 10 statements (likert-scale).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Average SUS Score: Achieved 77.5/100, indicating 'excellent' usability.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10 / SUBSYSTEM VERIFICATION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Edge Node Firmware lifecycle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Version Mismatch Alerts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Firmware check logic: Backend compares edge node firmware version strings against database targets.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Execution speed: Handshake version checks complete in 120ms.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UI Warning Banner: Mismatches render a warning banner in the mobile app and push an FCM notification.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Device Integrity Benefits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Helps operators identify and update outdated edge nodes.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Provides version warning checks without complex gatekeeper frameworks.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Ensures edge nodes run secure, authorized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11 / SUMMARY &amp; FUTURE SCOPE</a:t>
            </a:r>
          </a:p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Research Contributions &amp; Future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17352" cy="13716"/>
          </a:xfrm>
          <a:prstGeom prst="rect">
            <a:avLst/>
          </a:prstGeom>
          <a:solidFill>
            <a:srgbClr val="161F30"/>
          </a:solidFill>
          <a:ln>
            <a:solidFill>
              <a:srgbClr val="16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Key Research Contributions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Edge Resilience: Local ring buffers maintain data completeness during Wi-Fi drops without expensive gateway hardware.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Lifecycle Integration: Integrates security update alerts directly into smart farming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463040"/>
            <a:ext cx="5212080" cy="438912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4592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0B981"/>
                </a:solidFill>
                <a:latin typeface="Segoe UI"/>
              </a:defRPr>
            </a:pPr>
            <a:r>
              <a:t>Recommendations for Future Work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LoRaWAN Integration: Replacing Wi-Fi with LoRaWAN to allow long-distance transmission (up to 15 km).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Predictive Analytics: Deploying server-side LSTM models to forecast heating/cooling failures.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Self-Healing OTA: Implementing automated OTA patching pipelines.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9CA3AF"/>
                </a:solidFill>
                <a:latin typeface="Segoe UI"/>
              </a:defRPr>
            </a:pPr>
            <a:r>
              <a:t>Shamsudeen Anuoluwapo Adebayo | Egg Guardian Project  |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