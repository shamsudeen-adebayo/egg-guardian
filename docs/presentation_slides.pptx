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371600"/>
            <a:ext cx="108173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THESIS DEFENSE PRESENTATION</a:t>
            </a:r>
          </a:p>
          <a:p>
            <a:pPr algn="ctr">
              <a:spcAft>
                <a:spcPts val="120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The Development of a Mobile Application for Monitoring Poultry Egg Temperature and Security Updates</a:t>
            </a:r>
          </a:p>
          <a:p>
            <a:pPr algn="ctr">
              <a:spcAft>
                <a:spcPts val="6000"/>
              </a:spcAft>
              <a:defRPr sz="1800">
                <a:solidFill>
                  <a:srgbClr val="9CA3AF"/>
                </a:solidFill>
                <a:latin typeface="Segoe UI"/>
              </a:defRPr>
            </a:pPr>
            <a:r>
              <a:t>A Secure, Asynchronous, and Resilient Agricultural Cyber-Physical System</a:t>
            </a:r>
          </a:p>
          <a:p>
            <a:pPr algn="ctr">
              <a:defRPr sz="1400">
                <a:solidFill>
                  <a:srgbClr val="10B981"/>
                </a:solidFill>
                <a:latin typeface="Segoe UI"/>
              </a:defRPr>
            </a:pPr>
            <a:r>
              <a:t>Presenter: Shamsudeen Anuoluwapo Adebayo</a:t>
            </a:r>
            <a:br/>
            <a:r>
              <a:t>Objectives: 4 | Outage Buffering: Enforced | Transit Encryption: TLS 1.3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01 / BACKGROUND &amp; PROBLEM</a:t>
            </a:r>
          </a:p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The Agricultural &amp; Security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173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0"/>
              </a:spcAft>
              <a:defRPr sz="1800" b="1">
                <a:solidFill>
                  <a:srgbClr val="10B981"/>
                </a:solidFill>
                <a:latin typeface="Segoe UI"/>
              </a:defRPr>
            </a:pPr>
            <a:r>
              <a:t>•   Thermal Sensitivity: </a:t>
            </a:r>
            <a:r>
              <a:rPr sz="1800" b="0">
                <a:solidFill>
                  <a:srgbClr val="FFFFFF"/>
                </a:solidFill>
                <a:latin typeface="Segoe UI"/>
              </a:rPr>
              <a:t>Embryos require tight boundaries (37.0°C to 39.0°C). Hypo/hyperthermia spikes cause complete embryonic mortality.</a:t>
            </a:r>
          </a:p>
          <a:p>
            <a:pPr>
              <a:spcAft>
                <a:spcPts val="2400"/>
              </a:spcAft>
              <a:defRPr sz="1800" b="1">
                <a:solidFill>
                  <a:srgbClr val="10B981"/>
                </a:solidFill>
                <a:latin typeface="Segoe UI"/>
              </a:defRPr>
            </a:pPr>
            <a:r>
              <a:t>•   Outage Caching Gaps: </a:t>
            </a:r>
            <a:r>
              <a:rPr sz="1800" b="0">
                <a:solidFill>
                  <a:srgbClr val="FFFFFF"/>
                </a:solidFill>
                <a:latin typeface="Segoe UI"/>
              </a:rPr>
              <a:t>Existing apps lack edge buffering. Agricultural Wi-Fi dropouts result in complete data gaps.</a:t>
            </a:r>
          </a:p>
          <a:p>
            <a:pPr>
              <a:spcAft>
                <a:spcPts val="2400"/>
              </a:spcAft>
              <a:defRPr sz="1800" b="1">
                <a:solidFill>
                  <a:srgbClr val="10B981"/>
                </a:solidFill>
                <a:latin typeface="Segoe UI"/>
              </a:defRPr>
            </a:pPr>
            <a:r>
              <a:t>•   Firmware Vulnerabilities: </a:t>
            </a:r>
            <a:r>
              <a:rPr sz="1800" b="0">
                <a:solidFill>
                  <a:srgbClr val="FFFFFF"/>
                </a:solidFill>
                <a:latin typeface="Segoe UI"/>
              </a:rPr>
              <a:t>IoT edge nodes run unauthenticated, outdated firmware without lifecycle warnings.</a:t>
            </a:r>
          </a:p>
          <a:p>
            <a:pPr>
              <a:defRPr sz="1500" i="1">
                <a:solidFill>
                  <a:srgbClr val="9CA3AF"/>
                </a:solidFill>
                <a:latin typeface="Segoe UI"/>
              </a:defRPr>
            </a:pPr>
            <a:r>
              <a:t>Risk Profile: A single environmental crash or data spoofing attack on unencrypted channels (Blynk/analog setups) can cause total batch failure.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02 / STUDY FOCUS</a:t>
            </a:r>
          </a:p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Consolidated Research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173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800"/>
              </a:spcAft>
              <a:defRPr sz="1800" b="1">
                <a:solidFill>
                  <a:srgbClr val="10B981"/>
                </a:solidFill>
                <a:latin typeface="Segoe UI"/>
              </a:defRPr>
            </a:pPr>
            <a:r>
              <a:t>•   Objective 1: Hardware Edge Node: </a:t>
            </a:r>
            <a:r>
              <a:rPr sz="1800" b="0">
                <a:solidFill>
                  <a:srgbClr val="FFFFFF"/>
                </a:solidFill>
                <a:latin typeface="Segoe UI"/>
              </a:rPr>
              <a:t>Build ESP32-based node with DS18B20 digital probes and local FIFO queue caching.</a:t>
            </a:r>
          </a:p>
          <a:p>
            <a:pPr>
              <a:spcAft>
                <a:spcPts val="1800"/>
              </a:spcAft>
              <a:defRPr sz="1800" b="1">
                <a:solidFill>
                  <a:srgbClr val="10B981"/>
                </a:solidFill>
                <a:latin typeface="Segoe UI"/>
              </a:defRPr>
            </a:pPr>
            <a:r>
              <a:t>•   Objective 2: Cloud Backend &amp; HMI: </a:t>
            </a:r>
            <a:r>
              <a:rPr sz="1800" b="0">
                <a:solidFill>
                  <a:srgbClr val="FFFFFF"/>
                </a:solidFill>
                <a:latin typeface="Segoe UI"/>
              </a:rPr>
              <a:t>Develop high-performance asynchronous FastAPI API and Flutter mobile client dashboard.</a:t>
            </a:r>
          </a:p>
          <a:p>
            <a:pPr>
              <a:spcAft>
                <a:spcPts val="1800"/>
              </a:spcAft>
              <a:defRPr sz="1800" b="1">
                <a:solidFill>
                  <a:srgbClr val="10B981"/>
                </a:solidFill>
                <a:latin typeface="Segoe UI"/>
              </a:defRPr>
            </a:pPr>
            <a:r>
              <a:t>•   Objective 3: Security Update Subsystem: </a:t>
            </a:r>
            <a:r>
              <a:rPr sz="1800" b="0">
                <a:solidFill>
                  <a:srgbClr val="FFFFFF"/>
                </a:solidFill>
                <a:latin typeface="Segoe UI"/>
              </a:rPr>
              <a:t>Implement version checks during handshakes to trigger update warnings in HMI.</a:t>
            </a:r>
          </a:p>
          <a:p>
            <a:pPr>
              <a:spcAft>
                <a:spcPts val="1800"/>
              </a:spcAft>
              <a:defRPr sz="1800" b="1">
                <a:solidFill>
                  <a:srgbClr val="10B981"/>
                </a:solidFill>
                <a:latin typeface="Segoe UI"/>
              </a:defRPr>
            </a:pPr>
            <a:r>
              <a:t>•   Objective 4: Experimental Validation: </a:t>
            </a:r>
            <a:r>
              <a:rPr sz="1800" b="0">
                <a:solidFill>
                  <a:srgbClr val="FFFFFF"/>
                </a:solidFill>
                <a:latin typeface="Segoe UI"/>
              </a:rPr>
              <a:t>Benchmark accuracy (MAE), delivery latency, and database recovery rates.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03 / ENGINEERING DESIGN</a:t>
            </a:r>
          </a:p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System Architecture &amp; Telemetry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173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800"/>
              </a:spcAft>
              <a:defRPr sz="1800" b="1">
                <a:solidFill>
                  <a:srgbClr val="10B981"/>
                </a:solidFill>
                <a:latin typeface="Segoe UI"/>
              </a:defRPr>
            </a:pPr>
            <a:r>
              <a:t>•   Edge Tier: </a:t>
            </a:r>
            <a:r>
              <a:rPr sz="1800" b="0">
                <a:solidFill>
                  <a:srgbClr val="FFFFFF"/>
                </a:solidFill>
                <a:latin typeface="Segoe UI"/>
              </a:rPr>
              <a:t>DS18B20 digital probe captures thermal readings and transmits via 1-Wire to the ESP32 node.</a:t>
            </a:r>
          </a:p>
          <a:p>
            <a:pPr>
              <a:spcAft>
                <a:spcPts val="1800"/>
              </a:spcAft>
              <a:defRPr sz="1800" b="1">
                <a:solidFill>
                  <a:srgbClr val="10B981"/>
                </a:solidFill>
                <a:latin typeface="Segoe UI"/>
              </a:defRPr>
            </a:pPr>
            <a:r>
              <a:t>•   Transport Tier: </a:t>
            </a:r>
            <a:r>
              <a:rPr sz="1800" b="0">
                <a:solidFill>
                  <a:srgbClr val="FFFFFF"/>
                </a:solidFill>
                <a:latin typeface="Segoe UI"/>
              </a:rPr>
              <a:t>ESP32 publishes telemetry data over encrypted MQTT TLS (port 8883) to the broker.</a:t>
            </a:r>
          </a:p>
          <a:p>
            <a:pPr>
              <a:spcAft>
                <a:spcPts val="1800"/>
              </a:spcAft>
              <a:defRPr sz="1800" b="1">
                <a:solidFill>
                  <a:srgbClr val="10B981"/>
                </a:solidFill>
                <a:latin typeface="Segoe UI"/>
              </a:defRPr>
            </a:pPr>
            <a:r>
              <a:t>•   Cloud Tier: </a:t>
            </a:r>
            <a:r>
              <a:rPr sz="1800" b="0">
                <a:solidFill>
                  <a:srgbClr val="FFFFFF"/>
                </a:solidFill>
                <a:latin typeface="Segoe UI"/>
              </a:rPr>
              <a:t>FastAPI processes payload, checks edge versions, updates PostgreSQL, and broadcasts via WebSockets.</a:t>
            </a:r>
          </a:p>
          <a:p>
            <a:pPr>
              <a:spcAft>
                <a:spcPts val="1800"/>
              </a:spcAft>
              <a:defRPr sz="1800" b="1">
                <a:solidFill>
                  <a:srgbClr val="10B981"/>
                </a:solidFill>
                <a:latin typeface="Segoe UI"/>
              </a:defRPr>
            </a:pPr>
            <a:r>
              <a:t>•   HMI/Alerting Tier: </a:t>
            </a:r>
            <a:r>
              <a:rPr sz="1800" b="0">
                <a:solidFill>
                  <a:srgbClr val="FFFFFF"/>
                </a:solidFill>
                <a:latin typeface="Segoe UI"/>
              </a:rPr>
              <a:t>Flutter mobile app displays live telemetry updates, while FCM pushes tray notifications.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04 / USER INTERFACES</a:t>
            </a:r>
          </a:p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Operator HMI Platforms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173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0"/>
              </a:spcAft>
              <a:defRPr sz="1800" b="1">
                <a:solidFill>
                  <a:srgbClr val="10B981"/>
                </a:solidFill>
                <a:latin typeface="Segoe UI"/>
              </a:defRPr>
            </a:pPr>
            <a:r>
              <a:t>•   Authentication Cockpit: </a:t>
            </a:r>
            <a:r>
              <a:rPr sz="1800" b="0">
                <a:solidFill>
                  <a:srgbClr val="FFFFFF"/>
                </a:solidFill>
                <a:latin typeface="Segoe UI"/>
              </a:rPr>
              <a:t>Enforces secure access control using signed JWT session authorizations.</a:t>
            </a:r>
          </a:p>
          <a:p>
            <a:pPr>
              <a:spcAft>
                <a:spcPts val="2000"/>
              </a:spcAft>
              <a:defRPr sz="1800" b="1">
                <a:solidFill>
                  <a:srgbClr val="10B981"/>
                </a:solidFill>
                <a:latin typeface="Segoe UI"/>
              </a:defRPr>
            </a:pPr>
            <a:r>
              <a:t>•   Temperature Gauge details: </a:t>
            </a:r>
            <a:r>
              <a:rPr sz="1800" b="0">
                <a:solidFill>
                  <a:srgbClr val="FFFFFF"/>
                </a:solidFill>
                <a:latin typeface="Segoe UI"/>
              </a:rPr>
              <a:t>Visualizes real-time sensor read curves and color-coded status circles (Green: safe, Red: abnormal).</a:t>
            </a:r>
          </a:p>
          <a:p>
            <a:pPr>
              <a:spcAft>
                <a:spcPts val="2000"/>
              </a:spcAft>
              <a:defRPr sz="1800" b="1">
                <a:solidFill>
                  <a:srgbClr val="10B981"/>
                </a:solidFill>
                <a:latin typeface="Segoe UI"/>
              </a:defRPr>
            </a:pPr>
            <a:r>
              <a:t>•   Admin Control Console: </a:t>
            </a:r>
            <a:r>
              <a:rPr sz="1800" b="0">
                <a:solidFill>
                  <a:srgbClr val="FFFFFF"/>
                </a:solidFill>
                <a:latin typeface="Segoe UI"/>
              </a:rPr>
              <a:t>Allows systems admin to edit threshold limits, audit log grids, and track active nodes.</a:t>
            </a:r>
          </a:p>
          <a:p>
            <a:pPr>
              <a:defRPr sz="1600" i="1">
                <a:solidFill>
                  <a:srgbClr val="9CA3AF"/>
                </a:solidFill>
                <a:latin typeface="Segoe UI"/>
              </a:defRPr>
            </a:pPr>
            <a:r>
              <a:t>Walkthrough scale: Includes 12 Mobile UI Screens and 6 Desktop Web Console Views.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05 / EMPIRICAL FINDINGS</a:t>
            </a:r>
          </a:p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System Metrics &amp;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173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0"/>
              </a:spcAft>
              <a:defRPr sz="1800" b="1">
                <a:solidFill>
                  <a:srgbClr val="10B981"/>
                </a:solidFill>
                <a:latin typeface="Segoe UI"/>
              </a:defRPr>
            </a:pPr>
            <a:r>
              <a:t>•   Sensor Precision: </a:t>
            </a:r>
            <a:r>
              <a:rPr sz="1800" b="0">
                <a:solidFill>
                  <a:srgbClr val="FFFFFF"/>
                </a:solidFill>
                <a:latin typeface="Segoe UI"/>
              </a:rPr>
              <a:t>Digital DS18B20 calibration trials achieved a Mean Absolute Error (MAE) of 0.24°C (Safe limit: ± 0.5°C).</a:t>
            </a:r>
          </a:p>
          <a:p>
            <a:pPr>
              <a:spcAft>
                <a:spcPts val="2000"/>
              </a:spcAft>
              <a:defRPr sz="1800" b="1">
                <a:solidFill>
                  <a:srgbClr val="10B981"/>
                </a:solidFill>
                <a:latin typeface="Segoe UI"/>
              </a:defRPr>
            </a:pPr>
            <a:r>
              <a:t>•   Edge Data Recovery: </a:t>
            </a:r>
            <a:r>
              <a:rPr sz="1800" b="0">
                <a:solidFill>
                  <a:srgbClr val="FFFFFF"/>
                </a:solidFill>
                <a:latin typeface="Segoe UI"/>
              </a:rPr>
              <a:t>Edge buffer cache queue achieved a 100% data recovery rate during Wi-Fi drops under 100 seconds.</a:t>
            </a:r>
          </a:p>
          <a:p>
            <a:pPr>
              <a:spcAft>
                <a:spcPts val="2000"/>
              </a:spcAft>
              <a:defRPr sz="1800" b="1">
                <a:solidFill>
                  <a:srgbClr val="10B981"/>
                </a:solidFill>
                <a:latin typeface="Segoe UI"/>
              </a:defRPr>
            </a:pPr>
            <a:r>
              <a:t>•   Data Processing Speed: </a:t>
            </a:r>
            <a:r>
              <a:rPr sz="1800" b="0">
                <a:solidFill>
                  <a:srgbClr val="FFFFFF"/>
                </a:solidFill>
                <a:latin typeface="Segoe UI"/>
              </a:rPr>
              <a:t>WebSocket telemetry updates refreshed the UI in 142ms; notification latency was 1.14s over Wi-Fi.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06 / SYSTEM VALIDATION</a:t>
            </a:r>
          </a:p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Security &amp; Operator Usability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173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0"/>
              </a:spcAft>
              <a:defRPr sz="1800" b="1">
                <a:solidFill>
                  <a:srgbClr val="10B981"/>
                </a:solidFill>
                <a:latin typeface="Segoe UI"/>
              </a:defRPr>
            </a:pPr>
            <a:r>
              <a:t>•   Firmware Verification Loops: </a:t>
            </a:r>
            <a:r>
              <a:rPr sz="1800" b="0">
                <a:solidFill>
                  <a:srgbClr val="FFFFFF"/>
                </a:solidFill>
                <a:latin typeface="Segoe UI"/>
              </a:rPr>
              <a:t>Mismatch check handshakes verified code versions in 120ms, alerting users to required updates.</a:t>
            </a:r>
          </a:p>
          <a:p>
            <a:pPr>
              <a:spcAft>
                <a:spcPts val="2000"/>
              </a:spcAft>
              <a:defRPr sz="1800" b="1">
                <a:solidFill>
                  <a:srgbClr val="10B981"/>
                </a:solidFill>
                <a:latin typeface="Segoe UI"/>
              </a:defRPr>
            </a:pPr>
            <a:r>
              <a:t>•   Cryptographic Controls: </a:t>
            </a:r>
            <a:r>
              <a:rPr sz="1800" b="0">
                <a:solidFill>
                  <a:srgbClr val="FFFFFF"/>
                </a:solidFill>
                <a:latin typeface="Segoe UI"/>
              </a:rPr>
              <a:t>Passwords encrypted using Bcrypt; REST API endpoints secured with JWT tokens.</a:t>
            </a:r>
          </a:p>
          <a:p>
            <a:pPr>
              <a:spcAft>
                <a:spcPts val="2000"/>
              </a:spcAft>
              <a:defRPr sz="1800" b="1">
                <a:solidFill>
                  <a:srgbClr val="10B981"/>
                </a:solidFill>
                <a:latin typeface="Segoe UI"/>
              </a:defRPr>
            </a:pPr>
            <a:r>
              <a:t>•   Field Usability: </a:t>
            </a:r>
            <a:r>
              <a:rPr sz="1800" b="0">
                <a:solidFill>
                  <a:srgbClr val="FFFFFF"/>
                </a:solidFill>
                <a:latin typeface="Segoe UI"/>
              </a:rPr>
              <a:t>Field evaluations with 10 operators yielded a System Usability Scale (SUS) score of 77.5/100 ('Excellent').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07 / FUTURE ROADMAP</a:t>
            </a:r>
          </a:p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Contributions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173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10B981"/>
                </a:solidFill>
                <a:latin typeface="Segoe UI"/>
              </a:defRPr>
            </a:pPr>
            <a:r>
              <a:t>•   Research Contributions: </a:t>
            </a:r>
            <a:r>
              <a:rPr sz="1800" b="0">
                <a:solidFill>
                  <a:srgbClr val="FFFFFF"/>
                </a:solidFill>
                <a:latin typeface="Segoe UI"/>
              </a:rPr>
              <a:t>Bridges the gap between agricultural automation and firmware security lifecycle tracking.</a:t>
            </a:r>
          </a:p>
          <a:p>
            <a:pPr>
              <a:spcAft>
                <a:spcPts val="1600"/>
              </a:spcAft>
              <a:defRPr sz="1800" b="1">
                <a:solidFill>
                  <a:srgbClr val="10B981"/>
                </a:solidFill>
                <a:latin typeface="Segoe UI"/>
              </a:defRPr>
            </a:pPr>
            <a:r>
              <a:t>•   Limitations Identified: </a:t>
            </a:r>
            <a:r>
              <a:rPr sz="1800" b="0">
                <a:solidFill>
                  <a:srgbClr val="FFFFFF"/>
                </a:solidFill>
                <a:latin typeface="Segoe UI"/>
              </a:rPr>
              <a:t>ESP32 restricted to 2.4GHz Wi-Fi; internal RAM caching limits buffer queue to 20 records.</a:t>
            </a:r>
          </a:p>
          <a:p>
            <a:pPr>
              <a:spcAft>
                <a:spcPts val="1600"/>
              </a:spcAft>
              <a:defRPr sz="1800" b="1">
                <a:solidFill>
                  <a:srgbClr val="10B981"/>
                </a:solidFill>
                <a:latin typeface="Segoe UI"/>
              </a:defRPr>
            </a:pPr>
            <a:r>
              <a:t>•   Recommendations for Future Work: </a:t>
            </a:r>
            <a:r>
              <a:rPr sz="1800" b="0">
                <a:solidFill>
                  <a:srgbClr val="FFFFFF"/>
                </a:solidFill>
                <a:latin typeface="Segoe UI"/>
              </a:rPr>
              <a:t>Integrate LoRaWAN for 15km rural range; implement LSTM models for predictive anomaly forecasts; develop automated self-healing OTA updates.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